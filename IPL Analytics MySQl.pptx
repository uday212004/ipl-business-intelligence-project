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8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5320" y="1195560"/>
            <a:ext cx="771336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" name="Google Shape;12;p2"/>
          <p:cNvGrpSpPr/>
          <p:nvPr/>
        </p:nvGrpSpPr>
        <p:grpSpPr>
          <a:xfrm>
            <a:off x="-424800" y="-1078200"/>
            <a:ext cx="10569600" cy="6823080"/>
            <a:chOff x="-424800" y="-1078200"/>
            <a:chExt cx="10569600" cy="6823080"/>
          </a:xfrm>
        </p:grpSpPr>
        <p:pic>
          <p:nvPicPr>
            <p:cNvPr id="5" name="Google Shape;13;p2"/>
            <p:cNvPicPr/>
            <p:nvPr/>
          </p:nvPicPr>
          <p:blipFill>
            <a:blip r:embed="rId3"/>
            <a:srcRect t="8682" b="25474"/>
            <a:stretch/>
          </p:blipFill>
          <p:spPr>
            <a:xfrm>
              <a:off x="-276120" y="2993040"/>
              <a:ext cx="9419760" cy="2201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4">
              <a:alphaModFix amt="37000"/>
            </a:blip>
            <a:srcRect l="22932" b="43561"/>
            <a:stretch/>
          </p:blipFill>
          <p:spPr>
            <a:xfrm rot="397800">
              <a:off x="-340920" y="3833640"/>
              <a:ext cx="406044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5;p2"/>
            <p:cNvPicPr/>
            <p:nvPr/>
          </p:nvPicPr>
          <p:blipFill>
            <a:blip r:embed="rId5">
              <a:alphaModFix amt="31000"/>
            </a:blip>
            <a:srcRect l="27627" t="37156"/>
            <a:stretch/>
          </p:blipFill>
          <p:spPr>
            <a:xfrm>
              <a:off x="-424800" y="-609120"/>
              <a:ext cx="3687120" cy="1384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" name="Google Shape;16;p2"/>
            <p:cNvPicPr/>
            <p:nvPr/>
          </p:nvPicPr>
          <p:blipFill>
            <a:blip r:embed="rId6">
              <a:alphaModFix amt="31000"/>
            </a:blip>
            <a:srcRect l="12047" t="40696" r="30099"/>
            <a:stretch/>
          </p:blipFill>
          <p:spPr>
            <a:xfrm rot="1168800">
              <a:off x="6186600" y="-463680"/>
              <a:ext cx="3879720" cy="1135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0;p14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" name="Google Shape;102;p14"/>
          <p:cNvGrpSpPr/>
          <p:nvPr/>
        </p:nvGrpSpPr>
        <p:grpSpPr>
          <a:xfrm>
            <a:off x="-1764720" y="-2189160"/>
            <a:ext cx="12540600" cy="4805640"/>
            <a:chOff x="-1764720" y="-2189160"/>
            <a:chExt cx="12540600" cy="4805640"/>
          </a:xfrm>
        </p:grpSpPr>
        <p:pic>
          <p:nvPicPr>
            <p:cNvPr id="13" name="Google Shape;103;p14"/>
            <p:cNvPicPr/>
            <p:nvPr/>
          </p:nvPicPr>
          <p:blipFill>
            <a:blip r:embed="rId3">
              <a:alphaModFix amt="78000"/>
            </a:blip>
            <a:srcRect l="22932" b="43561"/>
            <a:stretch/>
          </p:blipFill>
          <p:spPr>
            <a:xfrm rot="12350400" flipH="1">
              <a:off x="4594680" y="-101700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" name="Google Shape;104;p14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rot="21145200">
              <a:off x="-1667520" y="-131940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86;p22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917280" y="534960"/>
            <a:ext cx="3321360" cy="114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" name="Google Shape;189;p22"/>
          <p:cNvGrpSpPr/>
          <p:nvPr/>
        </p:nvGrpSpPr>
        <p:grpSpPr>
          <a:xfrm>
            <a:off x="-1303560" y="-1943280"/>
            <a:ext cx="12059640" cy="8490960"/>
            <a:chOff x="-1303560" y="-1943280"/>
            <a:chExt cx="12059640" cy="8490960"/>
          </a:xfrm>
        </p:grpSpPr>
        <p:pic>
          <p:nvPicPr>
            <p:cNvPr id="20" name="Google Shape;190;p22"/>
            <p:cNvPicPr/>
            <p:nvPr/>
          </p:nvPicPr>
          <p:blipFill>
            <a:blip r:embed="rId3">
              <a:alphaModFix amt="44000"/>
            </a:blip>
            <a:srcRect l="22932" b="43561"/>
            <a:stretch/>
          </p:blipFill>
          <p:spPr>
            <a:xfrm rot="20155800">
              <a:off x="4570920" y="298116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" name="Google Shape;191;p22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rot="20928600">
              <a:off x="-1181160" y="-131040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2" name="Google Shape;192;p22"/>
          <p:cNvPicPr/>
          <p:nvPr/>
        </p:nvPicPr>
        <p:blipFill>
          <a:blip r:embed="rId5"/>
          <a:srcRect r="36313"/>
          <a:stretch/>
        </p:blipFill>
        <p:spPr>
          <a:xfrm rot="4432200">
            <a:off x="4563360" y="824400"/>
            <a:ext cx="5998680" cy="334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94;p23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" name="Google Shape;195;p23"/>
          <p:cNvGrpSpPr/>
          <p:nvPr/>
        </p:nvGrpSpPr>
        <p:grpSpPr>
          <a:xfrm>
            <a:off x="-630000" y="-1157400"/>
            <a:ext cx="10897920" cy="7275960"/>
            <a:chOff x="-630000" y="-1157400"/>
            <a:chExt cx="10897920" cy="7275960"/>
          </a:xfrm>
        </p:grpSpPr>
        <p:pic>
          <p:nvPicPr>
            <p:cNvPr id="25" name="Google Shape;196;p23"/>
            <p:cNvPicPr/>
            <p:nvPr/>
          </p:nvPicPr>
          <p:blipFill>
            <a:blip r:embed="rId3"/>
            <a:srcRect l="22932" b="43561"/>
            <a:stretch/>
          </p:blipFill>
          <p:spPr>
            <a:xfrm rot="1806000" flipH="1">
              <a:off x="-453240" y="302904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oogle Shape;197;p23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flipH="1">
              <a:off x="5172840" y="-115740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917280" y="534960"/>
            <a:ext cx="4462200" cy="114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616720" y="534960"/>
            <a:ext cx="3061080" cy="40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202;p24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42400" y="534960"/>
            <a:ext cx="5265000" cy="105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2" name="Google Shape;205;p24"/>
          <p:cNvGrpSpPr/>
          <p:nvPr/>
        </p:nvGrpSpPr>
        <p:grpSpPr>
          <a:xfrm>
            <a:off x="-798480" y="-1628280"/>
            <a:ext cx="12666600" cy="8308800"/>
            <a:chOff x="-798480" y="-1628280"/>
            <a:chExt cx="12666600" cy="8308800"/>
          </a:xfrm>
        </p:grpSpPr>
        <p:pic>
          <p:nvPicPr>
            <p:cNvPr id="33" name="Google Shape;206;p24"/>
            <p:cNvPicPr/>
            <p:nvPr/>
          </p:nvPicPr>
          <p:blipFill>
            <a:blip r:embed="rId3">
              <a:alphaModFix amt="93000"/>
            </a:blip>
            <a:stretch/>
          </p:blipFill>
          <p:spPr>
            <a:xfrm rot="12328800" flipH="1">
              <a:off x="5074920" y="-27864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207;p24"/>
            <p:cNvPicPr/>
            <p:nvPr/>
          </p:nvPicPr>
          <p:blipFill>
            <a:blip r:embed="rId4">
              <a:alphaModFix amt="71000"/>
            </a:blip>
            <a:srcRect l="22932" b="43561"/>
            <a:stretch/>
          </p:blipFill>
          <p:spPr>
            <a:xfrm rot="1872600" flipH="1">
              <a:off x="-592200" y="2890440"/>
              <a:ext cx="5889960" cy="24404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5" name="Google Shape;208;p24"/>
          <p:cNvSpPr/>
          <p:nvPr/>
        </p:nvSpPr>
        <p:spPr>
          <a:xfrm>
            <a:off x="4653000" y="1832040"/>
            <a:ext cx="364860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Montserrat"/>
                <a:ea typeface="Montserrat"/>
                <a:hlinkClick r:id="rId5"/>
              </a:rPr>
              <a:t>Slidesgo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,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including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  <a:hlinkClick r:id="rId6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233;p30"/>
          <p:cNvCxnSpPr/>
          <p:nvPr/>
        </p:nvCxnSpPr>
        <p:spPr>
          <a:xfrm>
            <a:off x="1130400" y="2700720"/>
            <a:ext cx="6883200" cy="360"/>
          </a:xfrm>
          <a:prstGeom prst="straightConnector1">
            <a:avLst/>
          </a:prstGeom>
          <a:ln w="9525">
            <a:solidFill>
              <a:srgbClr val="4DE6EC"/>
            </a:solidFill>
            <a:round/>
          </a:ln>
        </p:spPr>
      </p:cxnSp>
      <p:sp>
        <p:nvSpPr>
          <p:cNvPr id="37" name="Rectangle 36"/>
          <p:cNvSpPr/>
          <p:nvPr/>
        </p:nvSpPr>
        <p:spPr>
          <a:xfrm>
            <a:off x="714240" y="1200240"/>
            <a:ext cx="771480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IPL Analytics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4240" y="2990880"/>
            <a:ext cx="7714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End-to-End BI &amp; Advanced Cricket Analytics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_0:slide_img_nJeAfb.jpg"/>
          <p:cNvPicPr/>
          <p:nvPr/>
        </p:nvPicPr>
        <p:blipFill>
          <a:blip r:embed="rId2"/>
          <a:stretch/>
        </p:blipFill>
        <p:spPr>
          <a:xfrm>
            <a:off x="5619600" y="533520"/>
            <a:ext cx="3057120" cy="40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Rectangle 39"/>
          <p:cNvSpPr/>
          <p:nvPr/>
        </p:nvSpPr>
        <p:spPr>
          <a:xfrm>
            <a:off x="914400" y="533520"/>
            <a:ext cx="446688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Introduction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1657440"/>
            <a:ext cx="446688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This project delivers a corporate-grade </a:t>
            </a: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end-to-end analytics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 solution for IPL performance and business insight.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It combines data ingestion, cleaning, advanced SQL, analytics modeling, and an interactive BI layer to generate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actionable insights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 and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stakeholder-ready dashboards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 for teams, managers, and analytics partners.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_0:slide_img_NlCnfb.jpg"/>
          <p:cNvPicPr/>
          <p:nvPr/>
        </p:nvPicPr>
        <p:blipFill>
          <a:blip r:embed="rId2"/>
          <a:stretch/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Rectangle 42"/>
          <p:cNvSpPr/>
          <p:nvPr/>
        </p:nvSpPr>
        <p:spPr>
          <a:xfrm>
            <a:off x="619200" y="619200"/>
            <a:ext cx="2142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920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Project Overview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20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_0:slide_img_PKnKgb.jpg"/>
          <p:cNvPicPr/>
          <p:nvPr/>
        </p:nvPicPr>
        <p:blipFill>
          <a:blip r:embed="rId2"/>
          <a:stretch/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Rectangle 46"/>
          <p:cNvSpPr/>
          <p:nvPr/>
        </p:nvSpPr>
        <p:spPr>
          <a:xfrm>
            <a:off x="619200" y="619200"/>
            <a:ext cx="3476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Objective &amp; Scope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9200" y="1905120"/>
            <a:ext cx="34761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Build a complete analytics pipeline to optimize team strategy, player evaluation, and venue decisions.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Scope includes ball-by-ball and match-level analysis, KPI definition, SQL-driven metrics, and dashboard deployment to support data-driven decisions.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Workflow &amp; Technology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Data pipeline: ingestion → cleaning → EDA → advanced SQL 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Core tools: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Python (Pandas, NumPy,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Montserrat"/>
              </a:rPr>
              <a:t>Jupyter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)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,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MySQL</a:t>
            </a:r>
            <a:r>
              <a:rPr lang="en-US" sz="1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reporting and stakeholder visualization.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914400" y="533520"/>
            <a:ext cx="332388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Business Value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14400" y="1657440"/>
            <a:ext cx="4466880" cy="22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Deliver a unified </a:t>
            </a:r>
            <a:r>
              <a:rPr lang="en-US" sz="1200" b="0" i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data-to-decision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 platform that reduces scouting time and informs match strategy.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Provides </a:t>
            </a: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revenue uplift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 via enhanced fan engagement insights and </a:t>
            </a: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cost savings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 from optimized player utilization.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_0:slide_img_bcGBhb.jpg"/>
          <p:cNvPicPr/>
          <p:nvPr/>
        </p:nvPicPr>
        <p:blipFill>
          <a:blip r:embed="rId2"/>
          <a:stretch/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ctangle 53"/>
          <p:cNvSpPr/>
          <p:nvPr/>
        </p:nvSpPr>
        <p:spPr>
          <a:xfrm>
            <a:off x="5048280" y="619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04828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Analytics &amp; Outcomes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04828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EDA &amp; SQL Insights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19200" y="1905120"/>
            <a:ext cx="7905240" cy="25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Comprehensive EDA uncovers patterns: win percentages, venue effects, and toss impact.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Advanced SQL (CTEs, window functions) produces repeatable metrics for rankings and situational KPIs.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_0:slide_img_JjFbhb.jpg"/>
          <p:cNvPicPr/>
          <p:nvPr/>
        </p:nvPicPr>
        <p:blipFill>
          <a:blip r:embed="rId2"/>
          <a:stretch/>
        </p:blipFill>
        <p:spPr>
          <a:xfrm>
            <a:off x="5619600" y="533520"/>
            <a:ext cx="3057120" cy="40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angle 59"/>
          <p:cNvSpPr/>
          <p:nvPr/>
        </p:nvSpPr>
        <p:spPr>
          <a:xfrm>
            <a:off x="914400" y="533520"/>
            <a:ext cx="446688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Advanced Cricket Models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1657440"/>
            <a:ext cx="446688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Modeling focuses on powerplay vs death performance, batter–bowler matchups, and pressure metrics.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Includes feature-engineered inputs for strike-rate, boundary dependency, and situational form.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Produces </a:t>
            </a: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model-ready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 datasets for predictive and prescriptive analytics.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914400" y="533520"/>
            <a:ext cx="332388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Conclusions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400" y="1657440"/>
            <a:ext cx="4466880" cy="22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The project delivers a production-ready BI pipeline: clean data, advanced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ontserrat"/>
              </a:rPr>
              <a:t>SQL metrics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Enables data-driven strategy, scouting improvements, and commercial insights for teams and partners.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Montserrat"/>
              </a:rPr>
              <a:t>Positions the organization for future ML enhancements and live analytics capabilities.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727E-295B-9203-CB5D-F493DF06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460" y="2220458"/>
            <a:ext cx="7703640" cy="572400"/>
          </a:xfrm>
        </p:spPr>
        <p:txBody>
          <a:bodyPr/>
          <a:lstStyle/>
          <a:p>
            <a:r>
              <a:rPr lang="en-IN" dirty="0"/>
              <a:t>THANKS!!!!</a:t>
            </a:r>
          </a:p>
        </p:txBody>
      </p:sp>
    </p:spTree>
    <p:extLst>
      <p:ext uri="{BB962C8B-B14F-4D97-AF65-F5344CB8AC3E}">
        <p14:creationId xmlns:p14="http://schemas.microsoft.com/office/powerpoint/2010/main" val="2433996333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Pattern Social Media Strategy by Slidesgo">
  <a:themeElements>
    <a:clrScheme name="Simple Light">
      <a:dk1>
        <a:srgbClr val="FFFFFF"/>
      </a:dk1>
      <a:lt1>
        <a:srgbClr val="0E0734"/>
      </a:lt1>
      <a:dk2>
        <a:srgbClr val="17216B"/>
      </a:dk2>
      <a:lt2>
        <a:srgbClr val="DF3CB0"/>
      </a:lt2>
      <a:accent1>
        <a:srgbClr val="8944BF"/>
      </a:accent1>
      <a:accent2>
        <a:srgbClr val="3060ED"/>
      </a:accent2>
      <a:accent3>
        <a:srgbClr val="4DE6E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1637</TotalTime>
  <Words>291</Words>
  <Application>Microsoft Office PowerPoint</Application>
  <PresentationFormat>On-screen Show (16:9)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OpenSymbol</vt:lpstr>
      <vt:lpstr>Arial</vt:lpstr>
      <vt:lpstr>Montserrat</vt:lpstr>
      <vt:lpstr>Symbol</vt:lpstr>
      <vt:lpstr>Wingdings</vt:lpstr>
      <vt:lpstr>Futuristic Pattern Social Media Strategy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THANKS!!!!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Uday Deshmukh</dc:creator>
  <cp:lastModifiedBy>Uday Deshmukh</cp:lastModifiedBy>
  <cp:revision>4</cp:revision>
  <dcterms:modified xsi:type="dcterms:W3CDTF">2026-06-01T04:21:25Z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2026-05-28T07:00:39Z</dcterms:created>
  <dc:creator>Unknown Creator</dc:creator>
  <dc:description/>
  <dc:language>en-US</dc:language>
  <cp:lastModifiedBy>Unknown Creator</cp:lastModifiedBy>
  <dcterms:modified xsi:type="dcterms:W3CDTF">2026-05-28T07:00:39Z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